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9144000"/>
  <p:defaultTextStyle>
    <a:defPPr>
      <a:defRPr lang="en-L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711"/>
  </p:normalViewPr>
  <p:slideViewPr>
    <p:cSldViewPr snapToGrid="0">
      <p:cViewPr>
        <p:scale>
          <a:sx n="100" d="100"/>
          <a:sy n="100" d="100"/>
        </p:scale>
        <p:origin x="904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A699BF-A827-A4DA-0E19-5C28E71A7D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2796711-A0CF-68B2-338C-7385F039F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3FB58D-3BE6-3C35-15CE-78BCCFD61F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C06FB9-67BB-7407-1BD9-600512F65C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AB5EE-AB75-C365-4B2A-E97AB0DA3D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9555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2B451-1120-AA72-63CE-F76DCCA5D7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C7D3B5-97BF-9481-8896-22A585EAC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A09AC6-808D-05B0-3670-039A88434A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4426C9-5436-09A0-1FEB-A0D9F79FD3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7189B4-3E59-15EA-5D1B-FD8A510E20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07696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229C2D-6733-3D07-2497-08A36C00F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E42AB7F-587A-134D-2481-79D28E5C00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95E083-BABF-AF5B-AF13-2BD93F1CB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2FC58-16CC-E979-B470-B87D3EB56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30AE2-50DF-843D-49AB-B0E0EF7C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14384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909D1-56DA-B655-E7E6-0BC1710D9A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22CBAC-3C11-6075-3D85-0E6170B267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08BCEBA-8ABF-8219-4C9F-AE5252FAC59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BEB2E7-9F96-9DBA-074D-E9E0411E59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C16758-A4C2-4AD6-BABC-49C96C7A3F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50FC6E-BE12-7BAA-2B15-16520F671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9034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F1E6BB-0908-C7FE-E52E-9CC69EC7C3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1899B7-5A40-5968-15BF-427B48C67E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C20468-AEE4-9881-B675-BC28519A3D5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C20421-CD1E-180A-C16A-4C6F319F85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141684C-3436-2CBD-C9ED-B218D993749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E8F7C60-7509-3915-92A3-C0100BD6DC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5F2A708-8A80-E202-19F2-7E7322F37C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0BC1A2-AA94-B401-BB60-3FBDAAEAF9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22759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C58432-EA34-222C-12D8-81C946BE7F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7B258CB-783C-A717-1301-B93F97E145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E29F2F5-0A8F-2517-5045-D426EE569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51B630-2388-D2C0-103C-1C38BEB7B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16762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DE7C9C-FD48-062A-7730-F4D6C842A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C4C035D-2D2E-0953-F824-34A9632863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DB84F0-602E-82D0-732F-6615205CAF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02752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97CB2-839D-BF7C-998D-537D5A740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2BD3-BFAF-AC46-9869-1B5A9B9F45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C3188E-4C1E-2407-2C82-8CE0A41E26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7D0A25-CB07-5EB9-EB0F-7F2978843C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D298A7-3E91-DC36-7FE1-31EC15E70A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427015-AD8C-F586-565E-0E5D7AC689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695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2D6867-5EB7-46C2-92DA-91E5AAEB1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86B32A7-891F-012B-A024-0BA508EF7A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C5D2526-06B6-FCDD-F50B-DC5352D137F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CA930-0646-FDAD-1BD8-712A3DB90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80E224-04E0-9D86-B1ED-B7AFC7415E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DA2CAD4-C6C9-6E08-AC86-B2EA4AC994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81626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95BE02-D96E-0814-2B61-C198012266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9CE310-36B1-D8B0-9751-F8D244C643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C09DF8-8614-F124-B64B-E5D34C7007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E94424-62F2-EFE7-72B4-ABE11E4230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B46865-4F8E-681C-9396-DE0E89077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89648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3B25805-ACB6-A74A-3336-1AD9C4D698A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D4783E0-F6B9-52F7-BD48-6755BE4AE3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87E242-4AC7-879E-AAD5-C4882BEB9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7A7724-BB8E-59C9-E1CD-5D0850B5B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31EC78-8E63-D661-EFD7-163889C2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450487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9062396-306F-2ADD-858B-79545AA88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2796A44-1096-DBDC-84F3-9BCE61DEEF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465823-708E-B2EC-BCE7-BF0B04FD12A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735C87-7DD6-9F43-9A83-FD008AA9E58C}" type="datetimeFigureOut">
              <a:rPr lang="en-GB" smtClean="0"/>
              <a:t>03/12/2025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757C7B-B225-CF22-244E-8DD01DA862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86D005-5359-81A7-3FF9-CBBE883C09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0EB47-EA26-EA49-B4FF-819374ADBC5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50420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L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ecva.net/papers/eccv_2020/papers_ECCV/papers/123460205.pdf?utm_source=chatgpt.com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CEAB91-5FE9-1CC6-A90E-00F58CF2FB4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Review</a:t>
            </a:r>
            <a:br>
              <a:rPr lang="en-GB" dirty="0"/>
            </a:br>
            <a:r>
              <a:rPr lang="en-GB" dirty="0"/>
              <a:t>DETR: End-to-End Object Detection with Transformers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CF6D71-3BF5-A079-E587-DEB7EBBC55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By</a:t>
            </a:r>
          </a:p>
          <a:p>
            <a:r>
              <a:rPr lang="en-GB" dirty="0"/>
              <a:t>Harish Prabhu</a:t>
            </a:r>
          </a:p>
        </p:txBody>
      </p:sp>
    </p:spTree>
    <p:extLst>
      <p:ext uri="{BB962C8B-B14F-4D97-AF65-F5344CB8AC3E}">
        <p14:creationId xmlns:p14="http://schemas.microsoft.com/office/powerpoint/2010/main" val="2431052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2AE5D-6201-A63C-9111-06672CF578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Introduction &amp; Motivation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251C930-3C2F-4377-16EB-233ADB1D87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b="1" dirty="0"/>
              <a:t>• Object Detection (Quick Recap)</a:t>
            </a:r>
            <a:br>
              <a:rPr lang="en-GB" sz="1600" dirty="0"/>
            </a:br>
            <a:r>
              <a:rPr lang="en-GB" sz="1600" dirty="0"/>
              <a:t>– Task of identifying </a:t>
            </a:r>
            <a:r>
              <a:rPr lang="en-GB" sz="1600" i="1" dirty="0"/>
              <a:t>what</a:t>
            </a:r>
            <a:r>
              <a:rPr lang="en-GB" sz="1600" dirty="0"/>
              <a:t> objects are present in an image and </a:t>
            </a:r>
            <a:r>
              <a:rPr lang="en-GB" sz="1600" i="1" dirty="0"/>
              <a:t>where</a:t>
            </a:r>
            <a:r>
              <a:rPr lang="en-GB" sz="1600" dirty="0"/>
              <a:t> they appear</a:t>
            </a:r>
            <a:br>
              <a:rPr lang="en-GB" sz="1600" dirty="0"/>
            </a:br>
            <a:r>
              <a:rPr lang="en-GB" sz="1600" dirty="0"/>
              <a:t>– Requires solving classification + localization together</a:t>
            </a:r>
            <a:br>
              <a:rPr lang="en-GB" sz="1600" dirty="0"/>
            </a:br>
            <a:r>
              <a:rPr lang="en-GB" sz="1600" dirty="0"/>
              <a:t>– Challenging because objects vary in size, shape, and may overlap</a:t>
            </a:r>
          </a:p>
          <a:p>
            <a:r>
              <a:rPr lang="en-GB" sz="1600" b="1" dirty="0"/>
              <a:t>• Traditional Detection Pipelines (Before DETR):</a:t>
            </a:r>
            <a:br>
              <a:rPr lang="en-GB" sz="1600" dirty="0"/>
            </a:br>
            <a:r>
              <a:rPr lang="en-GB" sz="1600" dirty="0"/>
              <a:t>– Built as </a:t>
            </a:r>
            <a:r>
              <a:rPr lang="en-GB" sz="1600" b="1" dirty="0"/>
              <a:t>multi-stage systems</a:t>
            </a:r>
            <a:r>
              <a:rPr lang="en-GB" sz="1600" dirty="0"/>
              <a:t> with several handcrafted components</a:t>
            </a:r>
            <a:br>
              <a:rPr lang="en-GB" sz="1600" dirty="0"/>
            </a:br>
            <a:r>
              <a:rPr lang="en-GB" sz="1600" dirty="0"/>
              <a:t>– Use </a:t>
            </a:r>
            <a:r>
              <a:rPr lang="en-GB" sz="1600" b="1" dirty="0"/>
              <a:t>anchor boxes</a:t>
            </a:r>
            <a:r>
              <a:rPr lang="en-GB" sz="1600" dirty="0"/>
              <a:t>, </a:t>
            </a:r>
            <a:r>
              <a:rPr lang="en-GB" sz="1600" b="1" dirty="0"/>
              <a:t>region proposals</a:t>
            </a:r>
            <a:r>
              <a:rPr lang="en-GB" sz="1600" dirty="0"/>
              <a:t>, </a:t>
            </a:r>
            <a:r>
              <a:rPr lang="en-GB" sz="1600" b="1" dirty="0"/>
              <a:t>feature pyramids</a:t>
            </a:r>
            <a:r>
              <a:rPr lang="en-GB" sz="1600" dirty="0"/>
              <a:t>, etc.</a:t>
            </a:r>
            <a:br>
              <a:rPr lang="en-GB" sz="1600" dirty="0"/>
            </a:br>
            <a:r>
              <a:rPr lang="en-GB" sz="1600" dirty="0"/>
              <a:t>– Heavy reliance on </a:t>
            </a:r>
            <a:r>
              <a:rPr lang="en-GB" sz="1600" b="1" dirty="0"/>
              <a:t>NMS</a:t>
            </a:r>
            <a:r>
              <a:rPr lang="en-GB" sz="1600" dirty="0"/>
              <a:t> to remove duplicate bounding boxes</a:t>
            </a:r>
            <a:br>
              <a:rPr lang="en-GB" sz="1600" dirty="0"/>
            </a:br>
            <a:r>
              <a:rPr lang="en-GB" sz="1600" dirty="0"/>
              <a:t>– Many hyperparameters → difficult to tune and sensitive to design choices</a:t>
            </a:r>
            <a:br>
              <a:rPr lang="en-GB" sz="1600" dirty="0"/>
            </a:br>
            <a:r>
              <a:rPr lang="en-GB" sz="1600" dirty="0"/>
              <a:t>– Training is not fully end-to-end, making the pipeline complex</a:t>
            </a:r>
          </a:p>
          <a:p>
            <a:r>
              <a:rPr lang="en-GB" sz="1600" b="1" dirty="0"/>
              <a:t>• Motivation for a New Approach:</a:t>
            </a:r>
            <a:br>
              <a:rPr lang="en-GB" sz="1600" dirty="0"/>
            </a:br>
            <a:r>
              <a:rPr lang="en-GB" sz="1600" dirty="0"/>
              <a:t>– Current systems are accurate but too complicated</a:t>
            </a:r>
            <a:br>
              <a:rPr lang="en-GB" sz="1600" dirty="0"/>
            </a:br>
            <a:r>
              <a:rPr lang="en-GB" sz="1600" dirty="0"/>
              <a:t>– Need a detector that is </a:t>
            </a:r>
            <a:r>
              <a:rPr lang="en-GB" sz="1600" b="1" dirty="0"/>
              <a:t>simpler, cleaner, and easier to optimize end-to-end</a:t>
            </a:r>
            <a:br>
              <a:rPr lang="en-GB" sz="1600" dirty="0"/>
            </a:br>
            <a:r>
              <a:rPr lang="en-GB" sz="1600" dirty="0"/>
              <a:t>– Desire to remove hand-engineered heuristics and let the model learn directly</a:t>
            </a:r>
          </a:p>
        </p:txBody>
      </p:sp>
    </p:spTree>
    <p:extLst>
      <p:ext uri="{BB962C8B-B14F-4D97-AF65-F5344CB8AC3E}">
        <p14:creationId xmlns:p14="http://schemas.microsoft.com/office/powerpoint/2010/main" val="3775444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047BFD-CC71-F43C-5E32-E3C8EF8342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31875"/>
          </a:xfrm>
        </p:spPr>
        <p:txBody>
          <a:bodyPr/>
          <a:lstStyle/>
          <a:p>
            <a:r>
              <a:rPr lang="en-GB" dirty="0"/>
              <a:t>Intro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C47F9A-C0D2-6366-4215-04C7996E2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84324"/>
            <a:ext cx="10515600" cy="4816475"/>
          </a:xfrm>
        </p:spPr>
        <p:txBody>
          <a:bodyPr>
            <a:noAutofit/>
          </a:bodyPr>
          <a:lstStyle/>
          <a:p>
            <a:r>
              <a:rPr lang="en-GB" sz="1600" b="1" dirty="0"/>
              <a:t>• Success of Transformers in NLP:</a:t>
            </a:r>
            <a:br>
              <a:rPr lang="en-GB" sz="1600" dirty="0"/>
            </a:br>
            <a:r>
              <a:rPr lang="en-GB" sz="1600" dirty="0"/>
              <a:t>– Transformers excel at capturing long-range dependencies using self-attention</a:t>
            </a:r>
            <a:br>
              <a:rPr lang="en-GB" sz="1600" dirty="0"/>
            </a:br>
            <a:r>
              <a:rPr lang="en-GB" sz="1600" dirty="0"/>
              <a:t>– Their strong performance motivated researchers to explore them for vision</a:t>
            </a:r>
            <a:br>
              <a:rPr lang="en-GB" sz="1600" dirty="0"/>
            </a:br>
            <a:r>
              <a:rPr lang="en-GB" sz="1600" dirty="0"/>
              <a:t>– Key question: </a:t>
            </a:r>
            <a:r>
              <a:rPr lang="en-GB" sz="1600" i="1" dirty="0"/>
              <a:t>Can transformers simplify object detection by </a:t>
            </a:r>
            <a:r>
              <a:rPr lang="en-GB" sz="1600" i="1" dirty="0" err="1"/>
              <a:t>modeling</a:t>
            </a:r>
            <a:r>
              <a:rPr lang="en-GB" sz="1600" i="1" dirty="0"/>
              <a:t> global context?</a:t>
            </a:r>
            <a:endParaRPr lang="en-GB" sz="1600" dirty="0"/>
          </a:p>
          <a:p>
            <a:r>
              <a:rPr lang="en-GB" sz="1600" b="1" dirty="0"/>
              <a:t>• Reframing Object Detection as a Set Prediction Problem:</a:t>
            </a:r>
            <a:br>
              <a:rPr lang="en-GB" sz="1600" dirty="0"/>
            </a:br>
            <a:r>
              <a:rPr lang="en-GB" sz="1600" dirty="0"/>
              <a:t>– DETR treats detection as predicting a </a:t>
            </a:r>
            <a:r>
              <a:rPr lang="en-GB" sz="1600" b="1" dirty="0"/>
              <a:t>fixed-size set of objects</a:t>
            </a:r>
            <a:br>
              <a:rPr lang="en-GB" sz="1600" dirty="0"/>
            </a:br>
            <a:r>
              <a:rPr lang="en-GB" sz="1600" dirty="0"/>
              <a:t>– This avoids guesswork about how many objects exist in the image</a:t>
            </a:r>
            <a:br>
              <a:rPr lang="en-GB" sz="1600" dirty="0"/>
            </a:br>
            <a:r>
              <a:rPr lang="en-GB" sz="1600" dirty="0"/>
              <a:t>– One-to-one matching (via Hungarian algorithm) simplifies the training objective</a:t>
            </a:r>
            <a:br>
              <a:rPr lang="en-GB" sz="1600" dirty="0"/>
            </a:br>
            <a:r>
              <a:rPr lang="en-GB" sz="1600" dirty="0"/>
              <a:t>– Removes need for NMS because predictions are already unique</a:t>
            </a:r>
          </a:p>
          <a:p>
            <a:r>
              <a:rPr lang="en-GB" sz="1600" b="1" dirty="0"/>
              <a:t>• Why Transformers Fit This Reframing:</a:t>
            </a:r>
            <a:br>
              <a:rPr lang="en-GB" sz="1600" dirty="0"/>
            </a:br>
            <a:r>
              <a:rPr lang="en-GB" sz="1600" dirty="0"/>
              <a:t>– Self-attention allows the model to reason globally across the whole image</a:t>
            </a:r>
            <a:br>
              <a:rPr lang="en-GB" sz="1600" dirty="0"/>
            </a:br>
            <a:r>
              <a:rPr lang="en-GB" sz="1600" dirty="0"/>
              <a:t>– Eliminates hand-designed anchor boxes or region proposals</a:t>
            </a:r>
            <a:br>
              <a:rPr lang="en-GB" sz="1600" dirty="0"/>
            </a:br>
            <a:r>
              <a:rPr lang="en-GB" sz="1600" dirty="0"/>
              <a:t>– Learns relationships between objects directly</a:t>
            </a:r>
            <a:br>
              <a:rPr lang="en-GB" sz="1600" dirty="0"/>
            </a:br>
            <a:r>
              <a:rPr lang="en-GB" sz="1600" dirty="0"/>
              <a:t>– Allows a single network to output final detections</a:t>
            </a:r>
          </a:p>
          <a:p>
            <a:r>
              <a:rPr lang="en-GB" sz="1600" b="1" dirty="0"/>
              <a:t>• Core Motivation Behind DETR:</a:t>
            </a:r>
            <a:br>
              <a:rPr lang="en-GB" sz="1600" dirty="0"/>
            </a:br>
            <a:r>
              <a:rPr lang="en-GB" sz="1600" dirty="0"/>
              <a:t>– Create an object detector that is:</a:t>
            </a:r>
            <a:br>
              <a:rPr lang="en-GB" sz="1600" dirty="0"/>
            </a:br>
            <a:r>
              <a:rPr lang="en-GB" sz="1600" dirty="0"/>
              <a:t>✓ </a:t>
            </a:r>
            <a:r>
              <a:rPr lang="en-GB" sz="1600" b="1" dirty="0"/>
              <a:t>Fully end-to-end</a:t>
            </a:r>
            <a:br>
              <a:rPr lang="en-GB" sz="1600" dirty="0"/>
            </a:br>
            <a:r>
              <a:rPr lang="en-GB" sz="1600" dirty="0"/>
              <a:t>✓ </a:t>
            </a:r>
            <a:r>
              <a:rPr lang="en-GB" sz="1600" b="1" dirty="0"/>
              <a:t>Single-stage, unified architecture</a:t>
            </a:r>
            <a:br>
              <a:rPr lang="en-GB" sz="1600" dirty="0"/>
            </a:br>
            <a:r>
              <a:rPr lang="en-GB" sz="1600" dirty="0"/>
              <a:t>✓ </a:t>
            </a:r>
            <a:r>
              <a:rPr lang="en-GB" sz="1600" b="1" dirty="0"/>
              <a:t>Free of handcrafted components</a:t>
            </a:r>
            <a:br>
              <a:rPr lang="en-GB" sz="1600" dirty="0"/>
            </a:br>
            <a:r>
              <a:rPr lang="en-GB" sz="1600" dirty="0"/>
              <a:t>✓ </a:t>
            </a:r>
            <a:r>
              <a:rPr lang="en-GB" sz="1600" b="1" dirty="0"/>
              <a:t>Able to learn object interactions through attention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9500931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7922F-35E3-A5CE-6AC2-CF745B40AC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</a:t>
            </a:r>
            <a:r>
              <a:rPr lang="en-GB" dirty="0" err="1"/>
              <a:t>Contri</a:t>
            </a:r>
            <a:r>
              <a:rPr lang="en-GB" dirty="0"/>
              <a:t>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81B045-4BC7-A14D-8ECB-85CCA60028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b="1" dirty="0"/>
              <a:t>• 1. End-to-End Object Detection Architecture</a:t>
            </a:r>
          </a:p>
          <a:p>
            <a:r>
              <a:rPr lang="en-GB" sz="1600" dirty="0"/>
              <a:t>– Entire pipeline is a </a:t>
            </a:r>
            <a:r>
              <a:rPr lang="en-GB" sz="1600" b="1" dirty="0"/>
              <a:t>single model</a:t>
            </a:r>
            <a:r>
              <a:rPr lang="en-GB" sz="1600" dirty="0"/>
              <a:t>, from image to final bounding boxes</a:t>
            </a:r>
            <a:br>
              <a:rPr lang="en-GB" sz="1600" dirty="0"/>
            </a:br>
            <a:r>
              <a:rPr lang="en-GB" sz="1600" dirty="0"/>
              <a:t>– Eliminates anchor boxes, region proposal networks (RPN), and multi-stage logic</a:t>
            </a:r>
            <a:br>
              <a:rPr lang="en-GB" sz="1600" dirty="0"/>
            </a:br>
            <a:r>
              <a:rPr lang="en-GB" sz="1600" dirty="0"/>
              <a:t>– No hand-tuned heuristics or separate modules</a:t>
            </a:r>
          </a:p>
          <a:p>
            <a:r>
              <a:rPr lang="en-GB" sz="1600" b="1" dirty="0"/>
              <a:t>• 2. Set Prediction Framework Using Hungarian Matching</a:t>
            </a:r>
          </a:p>
          <a:p>
            <a:r>
              <a:rPr lang="en-GB" sz="1600" dirty="0"/>
              <a:t>– Object detection reframed as predicting a </a:t>
            </a:r>
            <a:r>
              <a:rPr lang="en-GB" sz="1600" b="1" dirty="0"/>
              <a:t>fixed-size set of objects</a:t>
            </a:r>
            <a:br>
              <a:rPr lang="en-GB" sz="1600" dirty="0"/>
            </a:br>
            <a:r>
              <a:rPr lang="en-GB" sz="1600" dirty="0"/>
              <a:t>– Hungarian algorithm creates a </a:t>
            </a:r>
            <a:r>
              <a:rPr lang="en-GB" sz="1600" b="1" dirty="0"/>
              <a:t>one-to-one match</a:t>
            </a:r>
            <a:r>
              <a:rPr lang="en-GB" sz="1600" dirty="0"/>
              <a:t> between predictions and ground truth</a:t>
            </a:r>
            <a:br>
              <a:rPr lang="en-GB" sz="1600" dirty="0"/>
            </a:br>
            <a:r>
              <a:rPr lang="en-GB" sz="1600" dirty="0"/>
              <a:t>– Guarantees </a:t>
            </a:r>
            <a:r>
              <a:rPr lang="en-GB" sz="1600" b="1" dirty="0"/>
              <a:t>unique detections</a:t>
            </a:r>
            <a:r>
              <a:rPr lang="en-GB" sz="1600" dirty="0"/>
              <a:t>, removing the need for NMS</a:t>
            </a:r>
          </a:p>
          <a:p>
            <a:r>
              <a:rPr lang="en-GB" sz="1600" b="1" dirty="0"/>
              <a:t>• 3. Transformer Encoder–Decoder for Vision</a:t>
            </a:r>
          </a:p>
          <a:p>
            <a:r>
              <a:rPr lang="en-GB" sz="1600" dirty="0"/>
              <a:t>– First use of transformer attention directly on image features</a:t>
            </a:r>
            <a:br>
              <a:rPr lang="en-GB" sz="1600" dirty="0"/>
            </a:br>
            <a:r>
              <a:rPr lang="en-GB" sz="1600" dirty="0"/>
              <a:t>– Encoder models </a:t>
            </a:r>
            <a:r>
              <a:rPr lang="en-GB" sz="1600" b="1" dirty="0"/>
              <a:t>global context</a:t>
            </a:r>
            <a:r>
              <a:rPr lang="en-GB" sz="1600" dirty="0"/>
              <a:t> across the whole image</a:t>
            </a:r>
            <a:br>
              <a:rPr lang="en-GB" sz="1600" dirty="0"/>
            </a:br>
            <a:r>
              <a:rPr lang="en-GB" sz="1600" dirty="0"/>
              <a:t>– Decoder uses </a:t>
            </a:r>
            <a:r>
              <a:rPr lang="en-GB" sz="1600" b="1" dirty="0"/>
              <a:t>learnable object queries</a:t>
            </a:r>
            <a:r>
              <a:rPr lang="en-GB" sz="1600" dirty="0"/>
              <a:t> to extract specific objects</a:t>
            </a:r>
            <a:br>
              <a:rPr lang="en-GB" sz="1600" dirty="0"/>
            </a:br>
            <a:r>
              <a:rPr lang="en-GB" sz="1600" dirty="0"/>
              <a:t>– Allows reasoning about relationships (e.g., objects next to each other)</a:t>
            </a:r>
          </a:p>
        </p:txBody>
      </p:sp>
    </p:spTree>
    <p:extLst>
      <p:ext uri="{BB962C8B-B14F-4D97-AF65-F5344CB8AC3E}">
        <p14:creationId xmlns:p14="http://schemas.microsoft.com/office/powerpoint/2010/main" val="87482941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AAC82-BEA1-9040-53C7-898E8AF19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Main </a:t>
            </a:r>
            <a:r>
              <a:rPr lang="en-GB" dirty="0" err="1"/>
              <a:t>Contri</a:t>
            </a:r>
            <a:r>
              <a:rPr lang="en-GB" dirty="0"/>
              <a:t>. 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FFB7FB-60D8-F755-C9A5-E1AB4D81B7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b="1" dirty="0"/>
              <a:t>4. Unified &amp; Simple Training Objective</a:t>
            </a:r>
          </a:p>
          <a:p>
            <a:r>
              <a:rPr lang="en-GB" sz="1600" dirty="0"/>
              <a:t>– Loss combines classification + bounding box regression cleanly</a:t>
            </a:r>
            <a:br>
              <a:rPr lang="en-GB" sz="1600" dirty="0"/>
            </a:br>
            <a:r>
              <a:rPr lang="en-GB" sz="1600" dirty="0"/>
              <a:t>– No region-level heuristics, </a:t>
            </a:r>
            <a:r>
              <a:rPr lang="en-GB" sz="1600" dirty="0" err="1"/>
              <a:t>IoU</a:t>
            </a:r>
            <a:r>
              <a:rPr lang="en-GB" sz="1600" dirty="0"/>
              <a:t>-threshold tricks, or proposal sampling</a:t>
            </a:r>
            <a:br>
              <a:rPr lang="en-GB" sz="1600" dirty="0"/>
            </a:br>
            <a:r>
              <a:rPr lang="en-GB" sz="1600" dirty="0"/>
              <a:t>– Model learns object assignment directly through matching loss</a:t>
            </a:r>
          </a:p>
          <a:p>
            <a:r>
              <a:rPr lang="en-GB" sz="1600" b="1" dirty="0"/>
              <a:t>• 5. Competitive Results With a Simpler Design</a:t>
            </a:r>
          </a:p>
          <a:p>
            <a:r>
              <a:rPr lang="en-GB" sz="1600" dirty="0"/>
              <a:t>– Achieves accuracy comparable to Faster R-CNN + FPN</a:t>
            </a:r>
            <a:br>
              <a:rPr lang="en-GB" sz="1600" dirty="0"/>
            </a:br>
            <a:r>
              <a:rPr lang="en-GB" sz="1600" dirty="0"/>
              <a:t>– Much fewer handcrafted rules → easier to train and maintain</a:t>
            </a:r>
            <a:br>
              <a:rPr lang="en-GB" sz="1600" dirty="0"/>
            </a:br>
            <a:r>
              <a:rPr lang="en-GB" sz="1600" dirty="0"/>
              <a:t>– Particularly strong at detecting large objects due to global attention</a:t>
            </a:r>
          </a:p>
          <a:p>
            <a:r>
              <a:rPr lang="en-GB" sz="1600" b="1" dirty="0"/>
              <a:t>• 6. Opens the Door to Transformer-Based Detection Models</a:t>
            </a:r>
          </a:p>
          <a:p>
            <a:r>
              <a:rPr lang="en-GB" sz="1600" dirty="0"/>
              <a:t>– DETR proved transformers work for end-to-end detection</a:t>
            </a:r>
            <a:br>
              <a:rPr lang="en-GB" sz="1600" dirty="0"/>
            </a:br>
            <a:r>
              <a:rPr lang="en-GB" sz="1600" dirty="0"/>
              <a:t>– Sparked a wave of successors:</a:t>
            </a:r>
            <a:br>
              <a:rPr lang="en-GB" sz="1600" dirty="0"/>
            </a:br>
            <a:r>
              <a:rPr lang="en-GB" sz="1600" dirty="0"/>
              <a:t>✓ Deformable DETR</a:t>
            </a:r>
            <a:br>
              <a:rPr lang="en-GB" sz="1600" dirty="0"/>
            </a:br>
            <a:r>
              <a:rPr lang="en-GB" sz="1600" dirty="0"/>
              <a:t>✓ Conditional DETR</a:t>
            </a:r>
            <a:br>
              <a:rPr lang="en-GB" sz="1600" dirty="0"/>
            </a:br>
            <a:r>
              <a:rPr lang="en-GB" sz="1600" dirty="0"/>
              <a:t>✓ DN-DETR</a:t>
            </a:r>
            <a:br>
              <a:rPr lang="en-GB" sz="1600" dirty="0"/>
            </a:br>
            <a:r>
              <a:rPr lang="en-GB" sz="1600" dirty="0"/>
              <a:t>✓ DAB-DETR</a:t>
            </a:r>
            <a:br>
              <a:rPr lang="en-GB" sz="1600" dirty="0"/>
            </a:br>
            <a:r>
              <a:rPr lang="en-GB" sz="1600" dirty="0"/>
              <a:t>✓ DINO</a:t>
            </a:r>
          </a:p>
        </p:txBody>
      </p:sp>
    </p:spTree>
    <p:extLst>
      <p:ext uri="{BB962C8B-B14F-4D97-AF65-F5344CB8AC3E}">
        <p14:creationId xmlns:p14="http://schemas.microsoft.com/office/powerpoint/2010/main" val="21434226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C0403-ECDC-B68B-8596-8EE9F44AB0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Detr</a:t>
            </a:r>
            <a:r>
              <a:rPr lang="en-GB" dirty="0"/>
              <a:t> Archi Overview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45B05D-7A96-1618-53D7-7ED59E7244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GB" sz="1600" b="1" dirty="0"/>
              <a:t>1. CNN Backbone (Feature Extraction)</a:t>
            </a:r>
          </a:p>
          <a:p>
            <a:r>
              <a:rPr lang="en-GB" sz="1600" dirty="0"/>
              <a:t>– Input image is passed through a </a:t>
            </a:r>
            <a:r>
              <a:rPr lang="en-GB" sz="1600" b="1" dirty="0" err="1"/>
              <a:t>ResNet</a:t>
            </a:r>
            <a:r>
              <a:rPr lang="en-GB" sz="1600" b="1" dirty="0"/>
              <a:t> backbone</a:t>
            </a:r>
            <a:r>
              <a:rPr lang="en-GB" sz="1600" dirty="0"/>
              <a:t> (50 or 101 layers).</a:t>
            </a:r>
            <a:br>
              <a:rPr lang="en-GB" sz="1600" dirty="0"/>
            </a:br>
            <a:r>
              <a:rPr lang="en-GB" sz="1600" dirty="0"/>
              <a:t>– Converts the image into a </a:t>
            </a:r>
            <a:r>
              <a:rPr lang="en-GB" sz="1600" b="1" dirty="0"/>
              <a:t>feature map</a:t>
            </a:r>
            <a:r>
              <a:rPr lang="en-GB" sz="1600" dirty="0"/>
              <a:t> representing spatial patterns, textures, and object-level information.</a:t>
            </a:r>
            <a:br>
              <a:rPr lang="en-GB" sz="1600" dirty="0"/>
            </a:br>
            <a:r>
              <a:rPr lang="en-GB" sz="1600" dirty="0"/>
              <a:t>– </a:t>
            </a:r>
            <a:r>
              <a:rPr lang="en-GB" sz="1600" b="1" dirty="0"/>
              <a:t>Positional encodings</a:t>
            </a:r>
            <a:r>
              <a:rPr lang="en-GB" sz="1600" dirty="0"/>
              <a:t> are added to preserve spatial information, which transformers cannot infer by themselves.</a:t>
            </a:r>
            <a:br>
              <a:rPr lang="en-GB" sz="1600" dirty="0"/>
            </a:br>
            <a:r>
              <a:rPr lang="en-GB" sz="1600" dirty="0"/>
              <a:t>– Essentially, this step converts raw images into a form suitable for attention-based reasoning.</a:t>
            </a:r>
          </a:p>
          <a:p>
            <a:r>
              <a:rPr lang="en-GB" sz="1600" b="1" dirty="0"/>
              <a:t>2. Transformer Encoder</a:t>
            </a:r>
          </a:p>
          <a:p>
            <a:r>
              <a:rPr lang="en-GB" sz="1600" dirty="0"/>
              <a:t>– Flattens the feature map into a </a:t>
            </a:r>
            <a:r>
              <a:rPr lang="en-GB" sz="1600" b="1" dirty="0"/>
              <a:t>sequence of vectors</a:t>
            </a:r>
            <a:r>
              <a:rPr lang="en-GB" sz="1600" dirty="0"/>
              <a:t>.</a:t>
            </a:r>
            <a:br>
              <a:rPr lang="en-GB" sz="1600" dirty="0"/>
            </a:br>
            <a:r>
              <a:rPr lang="en-GB" sz="1600" dirty="0"/>
              <a:t>– Self-attention layers allow </a:t>
            </a:r>
            <a:r>
              <a:rPr lang="en-GB" sz="1600" b="1" dirty="0"/>
              <a:t>every position to interact with every other position</a:t>
            </a:r>
            <a:r>
              <a:rPr lang="en-GB" sz="1600" dirty="0"/>
              <a:t>.</a:t>
            </a:r>
            <a:br>
              <a:rPr lang="en-GB" sz="1600" dirty="0"/>
            </a:br>
            <a:r>
              <a:rPr lang="en-GB" sz="1600" dirty="0"/>
              <a:t>– This models </a:t>
            </a:r>
            <a:r>
              <a:rPr lang="en-GB" sz="1600" b="1" dirty="0"/>
              <a:t>global context</a:t>
            </a:r>
            <a:r>
              <a:rPr lang="en-GB" sz="1600" dirty="0"/>
              <a:t>, crucial for detecting objects in complex scenes or when objects are small or overlapping.</a:t>
            </a:r>
            <a:br>
              <a:rPr lang="en-GB" sz="1600" dirty="0"/>
            </a:br>
            <a:r>
              <a:rPr lang="en-GB" sz="1600" dirty="0"/>
              <a:t>– Encodes relationships like “object A is likely near object B” or “background context helps identify object class.”</a:t>
            </a:r>
          </a:p>
          <a:p>
            <a:r>
              <a:rPr lang="en-GB" sz="1600" b="1" dirty="0"/>
              <a:t>3. Object Queries</a:t>
            </a:r>
          </a:p>
          <a:p>
            <a:r>
              <a:rPr lang="en-GB" sz="1600" dirty="0"/>
              <a:t>– Introduces a fixed set of </a:t>
            </a:r>
            <a:r>
              <a:rPr lang="en-GB" sz="1600" b="1" dirty="0"/>
              <a:t>learnable embeddings</a:t>
            </a:r>
            <a:r>
              <a:rPr lang="en-GB" sz="1600" dirty="0"/>
              <a:t> (e.g., 100 queries).</a:t>
            </a:r>
            <a:br>
              <a:rPr lang="en-GB" sz="1600" dirty="0"/>
            </a:br>
            <a:r>
              <a:rPr lang="en-GB" sz="1600" dirty="0"/>
              <a:t>– Each query represents a potential object slot in the image.</a:t>
            </a:r>
            <a:br>
              <a:rPr lang="en-GB" sz="1600" dirty="0"/>
            </a:br>
            <a:r>
              <a:rPr lang="en-GB" sz="1600" dirty="0"/>
              <a:t>– Queries attend to encoded image features using </a:t>
            </a:r>
            <a:r>
              <a:rPr lang="en-GB" sz="1600" b="1" dirty="0"/>
              <a:t>cross-attention</a:t>
            </a:r>
            <a:r>
              <a:rPr lang="en-GB" sz="1600" dirty="0"/>
              <a:t>, learning to focus on regions corresponding to objects.</a:t>
            </a:r>
            <a:br>
              <a:rPr lang="en-GB" sz="1600" dirty="0"/>
            </a:br>
            <a:r>
              <a:rPr lang="en-GB" sz="1600" dirty="0"/>
              <a:t>– Conceptually, think of them as “empty boxes” that the network fills with object predictions.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8159507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F0E39F-1ACB-A8D0-06DC-2741F1C193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/>
              <a:t>Detr</a:t>
            </a:r>
            <a:r>
              <a:rPr lang="en-GB" dirty="0"/>
              <a:t> Archi Overview(2)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F79CB-0D07-62C7-71B0-ABC6670199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sz="1600" b="1" dirty="0"/>
              <a:t>4. Transformer Decoder</a:t>
            </a:r>
          </a:p>
          <a:p>
            <a:r>
              <a:rPr lang="en-GB" sz="1600" dirty="0"/>
              <a:t>– Takes object queries and encoder outputs as input.</a:t>
            </a:r>
            <a:br>
              <a:rPr lang="en-GB" sz="1600" dirty="0"/>
            </a:br>
            <a:r>
              <a:rPr lang="en-GB" sz="1600" dirty="0"/>
              <a:t>– Produces </a:t>
            </a:r>
            <a:r>
              <a:rPr lang="en-GB" sz="1600" b="1" dirty="0"/>
              <a:t>query-specific representations</a:t>
            </a:r>
            <a:r>
              <a:rPr lang="en-GB" sz="1600" dirty="0"/>
              <a:t> — each output corresponds to one potential object.</a:t>
            </a:r>
            <a:br>
              <a:rPr lang="en-GB" sz="1600" dirty="0"/>
            </a:br>
            <a:r>
              <a:rPr lang="en-GB" sz="1600" dirty="0"/>
              <a:t>– Through </a:t>
            </a:r>
            <a:r>
              <a:rPr lang="en-GB" sz="1600" b="1" dirty="0"/>
              <a:t>multi-head attention</a:t>
            </a:r>
            <a:r>
              <a:rPr lang="en-GB" sz="1600" dirty="0"/>
              <a:t>, queries gather information from the entire image and refine object features.</a:t>
            </a:r>
            <a:br>
              <a:rPr lang="en-GB" sz="1600" dirty="0"/>
            </a:br>
            <a:r>
              <a:rPr lang="en-GB" sz="1600" dirty="0"/>
              <a:t>– Decoder outputs are </a:t>
            </a:r>
            <a:r>
              <a:rPr lang="en-GB" sz="1600" b="1" dirty="0"/>
              <a:t>directly interpretable</a:t>
            </a:r>
            <a:r>
              <a:rPr lang="en-GB" sz="1600" dirty="0"/>
              <a:t> by prediction heads.</a:t>
            </a:r>
          </a:p>
          <a:p>
            <a:r>
              <a:rPr lang="en-GB" sz="1600" b="1" dirty="0"/>
              <a:t>5. Prediction Heads</a:t>
            </a:r>
          </a:p>
          <a:p>
            <a:r>
              <a:rPr lang="en-GB" sz="1600" dirty="0"/>
              <a:t>– Each decoder output passes through two small feed-forward networks (FFNs):</a:t>
            </a:r>
            <a:br>
              <a:rPr lang="en-GB" sz="1600" dirty="0"/>
            </a:br>
            <a:r>
              <a:rPr lang="en-GB" sz="1600" dirty="0"/>
              <a:t>• </a:t>
            </a:r>
            <a:r>
              <a:rPr lang="en-GB" sz="1600" b="1" dirty="0"/>
              <a:t>Class prediction</a:t>
            </a:r>
            <a:r>
              <a:rPr lang="en-GB" sz="1600" dirty="0"/>
              <a:t>: outputs object class or “no object”</a:t>
            </a:r>
            <a:br>
              <a:rPr lang="en-GB" sz="1600" dirty="0"/>
            </a:br>
            <a:r>
              <a:rPr lang="en-GB" sz="1600" dirty="0"/>
              <a:t>• </a:t>
            </a:r>
            <a:r>
              <a:rPr lang="en-GB" sz="1600" b="1" dirty="0"/>
              <a:t>Bounding box prediction</a:t>
            </a:r>
            <a:r>
              <a:rPr lang="en-GB" sz="1600" dirty="0"/>
              <a:t>: outputs normalized coordinates (x, y, width, height)</a:t>
            </a:r>
            <a:br>
              <a:rPr lang="en-GB" sz="1600" dirty="0"/>
            </a:br>
            <a:r>
              <a:rPr lang="en-GB" sz="1600" dirty="0"/>
              <a:t>– Produces a </a:t>
            </a:r>
            <a:r>
              <a:rPr lang="en-GB" sz="1600" b="1" dirty="0"/>
              <a:t>fixed-size set of predictions</a:t>
            </a:r>
            <a:r>
              <a:rPr lang="en-GB" sz="1600" dirty="0"/>
              <a:t> (e.g., 100 boxes).</a:t>
            </a:r>
          </a:p>
          <a:p>
            <a:r>
              <a:rPr lang="en-GB" sz="1600" b="1" dirty="0"/>
              <a:t>6. Set Prediction + Hungarian Matching</a:t>
            </a:r>
          </a:p>
          <a:p>
            <a:r>
              <a:rPr lang="en-GB" sz="1600" dirty="0"/>
              <a:t>– Matches predictions to ground truth objects </a:t>
            </a:r>
            <a:r>
              <a:rPr lang="en-GB" sz="1600" b="1" dirty="0"/>
              <a:t>one-to-one</a:t>
            </a:r>
            <a:r>
              <a:rPr lang="en-GB" sz="1600" dirty="0"/>
              <a:t> using the Hungarian algorithm.</a:t>
            </a:r>
            <a:br>
              <a:rPr lang="en-GB" sz="1600" dirty="0"/>
            </a:br>
            <a:r>
              <a:rPr lang="en-GB" sz="1600" dirty="0"/>
              <a:t>– Unmatched predictions are </a:t>
            </a:r>
            <a:r>
              <a:rPr lang="en-GB" sz="1600" dirty="0" err="1"/>
              <a:t>labeled</a:t>
            </a:r>
            <a:r>
              <a:rPr lang="en-GB" sz="1600" dirty="0"/>
              <a:t> as “no object.”</a:t>
            </a:r>
            <a:br>
              <a:rPr lang="en-GB" sz="1600" dirty="0"/>
            </a:br>
            <a:r>
              <a:rPr lang="en-GB" sz="1600" dirty="0"/>
              <a:t>– Removes the need for </a:t>
            </a:r>
            <a:r>
              <a:rPr lang="en-GB" sz="1600" b="1" dirty="0"/>
              <a:t>Non-Maximum Suppression</a:t>
            </a:r>
            <a:r>
              <a:rPr lang="en-GB" sz="1600" dirty="0"/>
              <a:t>, enabling fully </a:t>
            </a:r>
            <a:r>
              <a:rPr lang="en-GB" sz="1600" b="1" dirty="0"/>
              <a:t>end-to-end training</a:t>
            </a:r>
            <a:r>
              <a:rPr lang="en-GB" sz="1600" dirty="0"/>
              <a:t>.</a:t>
            </a:r>
            <a:br>
              <a:rPr lang="en-GB" sz="1600" dirty="0"/>
            </a:br>
            <a:r>
              <a:rPr lang="en-GB" sz="1600" dirty="0"/>
              <a:t>– Loss function combines </a:t>
            </a:r>
            <a:r>
              <a:rPr lang="en-GB" sz="1600" b="1" dirty="0"/>
              <a:t>classification loss + box regression + </a:t>
            </a:r>
            <a:r>
              <a:rPr lang="en-GB" sz="1600" b="1" dirty="0" err="1"/>
              <a:t>GIoU</a:t>
            </a:r>
            <a:r>
              <a:rPr lang="en-GB" sz="1600" dirty="0"/>
              <a:t> for a unified objective.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9250795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FB17E2-2645-C50E-E194-38442924D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GB" dirty="0"/>
              <a:t>Key Innovations and Advantages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26FD0A-4A13-698F-BC9D-6D5F87DECB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GB" sz="1600" b="1" dirty="0"/>
              <a:t>1. Fully End-to-End Detection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DETR replaces traditional multi-stage pipelines with a </a:t>
            </a:r>
            <a:r>
              <a:rPr lang="en-GB" sz="1600" b="1" dirty="0"/>
              <a:t>single unified network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No </a:t>
            </a:r>
            <a:r>
              <a:rPr lang="en-GB" sz="1600" b="1" dirty="0"/>
              <a:t>anchor boxes</a:t>
            </a:r>
            <a:r>
              <a:rPr lang="en-GB" sz="1600" dirty="0"/>
              <a:t>, no </a:t>
            </a:r>
            <a:r>
              <a:rPr lang="en-GB" sz="1600" b="1" dirty="0"/>
              <a:t>region proposals</a:t>
            </a:r>
            <a:r>
              <a:rPr lang="en-GB" sz="1600" dirty="0"/>
              <a:t>, no </a:t>
            </a:r>
            <a:r>
              <a:rPr lang="en-GB" sz="1600" b="1" dirty="0"/>
              <a:t>Non-Maximum Suppression (NMS)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Outputs final object predictions directly from the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Simpler architecture, easier optimization, fewer hyperparameters to tune.</a:t>
            </a:r>
          </a:p>
          <a:p>
            <a:r>
              <a:rPr lang="en-GB" sz="1600" b="1" dirty="0"/>
              <a:t>2. Global Context </a:t>
            </a:r>
            <a:r>
              <a:rPr lang="en-GB" sz="1600" b="1" dirty="0" err="1"/>
              <a:t>Modeling</a:t>
            </a:r>
            <a:r>
              <a:rPr lang="en-GB" sz="1600" b="1" dirty="0"/>
              <a:t> with Transformers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Transformer self-attention allows </a:t>
            </a:r>
            <a:r>
              <a:rPr lang="en-GB" sz="1600" b="1" dirty="0"/>
              <a:t>every image region to interact with every other region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Helps detect objects in </a:t>
            </a:r>
            <a:r>
              <a:rPr lang="en-GB" sz="1600" b="1" dirty="0"/>
              <a:t>complex or cluttered scenes</a:t>
            </a:r>
            <a:r>
              <a:rPr lang="en-GB" sz="1600" dirty="0"/>
              <a:t>, especially overlapping or large objects.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The model can reason about object relationships: e.g., context helps distinguish objects that are small or partially occluded.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Captures long-range dependencies that CNNs alone struggle with.</a:t>
            </a:r>
          </a:p>
          <a:p>
            <a:r>
              <a:rPr lang="en-GB" sz="1600" b="1" dirty="0"/>
              <a:t>3. Set Prediction Framework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Predicts a </a:t>
            </a:r>
            <a:r>
              <a:rPr lang="en-GB" sz="1600" b="1" dirty="0"/>
              <a:t>fixed-size set of object slots</a:t>
            </a:r>
            <a:r>
              <a:rPr lang="en-GB" sz="1600" dirty="0"/>
              <a:t> (e.g., 100 queries).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Uses </a:t>
            </a:r>
            <a:r>
              <a:rPr lang="en-GB" sz="1600" b="1" dirty="0"/>
              <a:t>Hungarian matching</a:t>
            </a:r>
            <a:r>
              <a:rPr lang="en-GB" sz="1600" dirty="0"/>
              <a:t> to assign each predicted object to ground truth in a </a:t>
            </a:r>
            <a:r>
              <a:rPr lang="en-GB" sz="1600" b="1" dirty="0"/>
              <a:t>one-to-one correspondence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Eliminates duplicates automatically and removes the need for NMS.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Clean, end-to-end training objective without heuristic post-processing.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41670184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AA5D20-210B-0390-5D06-9B7F3B494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512DD4-D928-9344-FD27-CE122C330F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GB" dirty="0"/>
              <a:t>Key Innovations and Advantages(2)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04314-56A5-0E2F-208F-E150783103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>
            <a:noAutofit/>
          </a:bodyPr>
          <a:lstStyle/>
          <a:p>
            <a:r>
              <a:rPr lang="en-GB" sz="1600" b="1" dirty="0"/>
              <a:t>4. Learnable Object Queries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 fixed set of </a:t>
            </a:r>
            <a:r>
              <a:rPr lang="en-GB" sz="1600" b="1" dirty="0"/>
              <a:t>query embeddings</a:t>
            </a:r>
            <a:r>
              <a:rPr lang="en-GB" sz="1600" dirty="0"/>
              <a:t> act as object slots.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Each query learns to attend to a potential object using </a:t>
            </a:r>
            <a:r>
              <a:rPr lang="en-GB" sz="1600" b="1" dirty="0"/>
              <a:t>cross-attention</a:t>
            </a:r>
            <a:r>
              <a:rPr lang="en-GB" sz="1600" dirty="0"/>
              <a:t> with encoded features.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Dynamically adapts to the number and position of objects in an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Replaces manual heuristics and allows flexible object assignment.</a:t>
            </a:r>
          </a:p>
          <a:p>
            <a:r>
              <a:rPr lang="en-GB" sz="1600" b="1" dirty="0"/>
              <a:t>5. Unified Loss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Combines </a:t>
            </a:r>
            <a:r>
              <a:rPr lang="en-GB" sz="1600" b="1" dirty="0"/>
              <a:t>classification loss</a:t>
            </a:r>
            <a:r>
              <a:rPr lang="en-GB" sz="1600" dirty="0"/>
              <a:t>, </a:t>
            </a:r>
            <a:r>
              <a:rPr lang="en-GB" sz="1600" b="1" dirty="0"/>
              <a:t>bounding box regression</a:t>
            </a:r>
            <a:r>
              <a:rPr lang="en-GB" sz="1600" dirty="0"/>
              <a:t>, and </a:t>
            </a:r>
            <a:r>
              <a:rPr lang="en-GB" sz="1600" b="1" dirty="0" err="1"/>
              <a:t>GIoU</a:t>
            </a:r>
            <a:r>
              <a:rPr lang="en-GB" sz="1600" b="1" dirty="0"/>
              <a:t> loss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No region-level heuristics, </a:t>
            </a:r>
            <a:r>
              <a:rPr lang="en-GB" sz="1600" dirty="0" err="1"/>
              <a:t>IoU</a:t>
            </a:r>
            <a:r>
              <a:rPr lang="en-GB" sz="1600" dirty="0"/>
              <a:t> thresholds, or anchor tuning.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Simplifies training, improves reproducibility, and enables end-to-end optimization.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Clean and principled training objective.</a:t>
            </a:r>
          </a:p>
          <a:p>
            <a:r>
              <a:rPr lang="en-GB" sz="1600" b="1" dirty="0"/>
              <a:t>6. Strong Performance with Simpler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Achieves accuracy comparable to </a:t>
            </a:r>
            <a:r>
              <a:rPr lang="en-GB" sz="1600" b="1" dirty="0"/>
              <a:t>Faster R-CNN + FPN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Simple architecture is easier to maintain and extend.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Forms the foundation for later transformer-based detection models like </a:t>
            </a:r>
            <a:r>
              <a:rPr lang="en-GB" sz="1600" b="1" dirty="0"/>
              <a:t>Deformable DETR, Conditional DETR, DN-DETR, and DINO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Combines simplicity, performance, and extensibility.</a:t>
            </a:r>
          </a:p>
        </p:txBody>
      </p:sp>
    </p:spTree>
    <p:extLst>
      <p:ext uri="{BB962C8B-B14F-4D97-AF65-F5344CB8AC3E}">
        <p14:creationId xmlns:p14="http://schemas.microsoft.com/office/powerpoint/2010/main" val="28343830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A9AFF8-C590-6F61-A374-F6F2C9415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Training Objective &amp; Loss Function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08EDCA-471B-B18C-B6BC-F10AFA17A7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GB" sz="1600" b="1" dirty="0"/>
              <a:t>1. Set Prediction Problem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DETR predicts a </a:t>
            </a:r>
            <a:r>
              <a:rPr lang="en-GB" sz="1600" b="1" dirty="0"/>
              <a:t>fixed-size set of objects</a:t>
            </a:r>
            <a:r>
              <a:rPr lang="en-GB" sz="1600" dirty="0"/>
              <a:t>, typically 100 queries per image.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Real images usually contain </a:t>
            </a:r>
            <a:r>
              <a:rPr lang="en-GB" sz="1600" b="1" dirty="0"/>
              <a:t>fewer objects</a:t>
            </a:r>
            <a:r>
              <a:rPr lang="en-GB" sz="1600" dirty="0"/>
              <a:t> than this set size.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Extra queries are </a:t>
            </a:r>
            <a:r>
              <a:rPr lang="en-GB" sz="1600" dirty="0" err="1"/>
              <a:t>labeled</a:t>
            </a:r>
            <a:r>
              <a:rPr lang="en-GB" sz="1600" dirty="0"/>
              <a:t> as </a:t>
            </a:r>
            <a:r>
              <a:rPr lang="en-GB" sz="1600" b="1" dirty="0"/>
              <a:t>“no object”</a:t>
            </a:r>
            <a:r>
              <a:rPr lang="en-GB" sz="1600" dirty="0"/>
              <a:t> during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Significance:</a:t>
            </a:r>
            <a:r>
              <a:rPr lang="en-GB" sz="1600" dirty="0"/>
              <a:t> Allows DETR to naturally handle images with varying object counts.</a:t>
            </a:r>
          </a:p>
          <a:p>
            <a:r>
              <a:rPr lang="en-GB" sz="1600" b="1" dirty="0"/>
              <a:t>2. Hungarian Matching for One-to-One Assignment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Each predicted object is </a:t>
            </a:r>
            <a:r>
              <a:rPr lang="en-GB" sz="1600" b="1" dirty="0"/>
              <a:t>matched to a ground truth object</a:t>
            </a:r>
            <a:r>
              <a:rPr lang="en-GB" sz="1600" dirty="0"/>
              <a:t> using the </a:t>
            </a:r>
            <a:r>
              <a:rPr lang="en-GB" sz="1600" b="1" dirty="0"/>
              <a:t>Hungarian algorithm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Matching is based on </a:t>
            </a:r>
            <a:r>
              <a:rPr lang="en-GB" sz="1600" b="1" dirty="0"/>
              <a:t>combined cost</a:t>
            </a:r>
            <a:r>
              <a:rPr lang="en-GB" sz="1600" dirty="0"/>
              <a:t>: classification + box similarity.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Ensures </a:t>
            </a:r>
            <a:r>
              <a:rPr lang="en-GB" sz="1600" b="1" dirty="0"/>
              <a:t>each ground truth object has exactly one prediction</a:t>
            </a:r>
            <a:r>
              <a:rPr lang="en-GB" sz="1600" dirty="0"/>
              <a:t>, eliminating duplicates.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Removes the need for </a:t>
            </a:r>
            <a:r>
              <a:rPr lang="en-GB" sz="1600" b="1" dirty="0"/>
              <a:t>Non-Maximum Suppression (NMS)</a:t>
            </a:r>
            <a:r>
              <a:rPr lang="en-GB" sz="1600" dirty="0"/>
              <a:t> entirely.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0856547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E12C04-92DF-41FB-1CCB-7A32397C1C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E0039A-57D8-270C-C41C-F9F44B0E2C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90575"/>
          </a:xfrm>
        </p:spPr>
        <p:txBody>
          <a:bodyPr/>
          <a:lstStyle/>
          <a:p>
            <a:r>
              <a:rPr lang="en-GB" b="1" dirty="0"/>
              <a:t>Training Objective &amp; Loss Function(2)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8AE3A-668B-F2DA-E7D5-C1840780F5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3376"/>
            <a:ext cx="10515600" cy="4351338"/>
          </a:xfrm>
        </p:spPr>
        <p:txBody>
          <a:bodyPr>
            <a:noAutofit/>
          </a:bodyPr>
          <a:lstStyle/>
          <a:p>
            <a:r>
              <a:rPr lang="en-GB" sz="1600" b="1" dirty="0"/>
              <a:t>3. Loss Function Components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Classification Loss:</a:t>
            </a:r>
            <a:r>
              <a:rPr lang="en-GB" sz="1600" dirty="0"/>
              <a:t> Cross-entropy loss for predicting the correct object class, including “no object.”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Bounding Box Regression Loss:</a:t>
            </a:r>
            <a:r>
              <a:rPr lang="en-GB" sz="1600" dirty="0"/>
              <a:t> L1 loss for precise box coordinates.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Generalized </a:t>
            </a:r>
            <a:r>
              <a:rPr lang="en-GB" sz="1600" b="1" dirty="0" err="1"/>
              <a:t>IoU</a:t>
            </a:r>
            <a:r>
              <a:rPr lang="en-GB" sz="1600" b="1" dirty="0"/>
              <a:t> (</a:t>
            </a:r>
            <a:r>
              <a:rPr lang="en-GB" sz="1600" b="1" dirty="0" err="1"/>
              <a:t>GIoU</a:t>
            </a:r>
            <a:r>
              <a:rPr lang="en-GB" sz="1600" b="1" dirty="0"/>
              <a:t>) Loss:</a:t>
            </a:r>
            <a:r>
              <a:rPr lang="en-GB" sz="1600" dirty="0"/>
              <a:t> Ensures predicted boxes are well-aligned with ground truth.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Significance:</a:t>
            </a:r>
            <a:r>
              <a:rPr lang="en-GB" sz="1600" dirty="0"/>
              <a:t> Combines all aspects of detection in a single, coherent objective.</a:t>
            </a:r>
          </a:p>
          <a:p>
            <a:r>
              <a:rPr lang="en-GB" sz="1600" b="1" dirty="0"/>
              <a:t>4. Unified End-to-End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Total loss = </a:t>
            </a:r>
            <a:r>
              <a:rPr lang="en-GB" sz="1600" b="1" dirty="0"/>
              <a:t>Classification + L1 + </a:t>
            </a:r>
            <a:r>
              <a:rPr lang="en-GB" sz="1600" b="1" dirty="0" err="1"/>
              <a:t>GIoU</a:t>
            </a:r>
            <a:endParaRPr lang="en-GB" sz="1600" dirty="0"/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Optimizes the </a:t>
            </a:r>
            <a:r>
              <a:rPr lang="en-GB" sz="1600" b="1" dirty="0"/>
              <a:t>entire network jointly</a:t>
            </a:r>
            <a:r>
              <a:rPr lang="en-GB" sz="1600" dirty="0"/>
              <a:t>, no stage-wise training.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Fully differentiable and clean, requiring </a:t>
            </a:r>
            <a:r>
              <a:rPr lang="en-GB" sz="1600" b="1" dirty="0"/>
              <a:t>no heuristics or anchors</a:t>
            </a:r>
            <a:r>
              <a:rPr lang="en-GB" sz="1600" dirty="0"/>
              <a:t>.</a:t>
            </a:r>
          </a:p>
          <a:p>
            <a:r>
              <a:rPr lang="en-GB" sz="1600" b="1" dirty="0"/>
              <a:t>5. Advantages of DETR Loss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Handles </a:t>
            </a:r>
            <a:r>
              <a:rPr lang="en-GB" sz="1600" b="1" dirty="0"/>
              <a:t>variable object counts</a:t>
            </a:r>
            <a:r>
              <a:rPr lang="en-GB" sz="1600" dirty="0"/>
              <a:t> naturally.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Produces </a:t>
            </a:r>
            <a:r>
              <a:rPr lang="en-GB" sz="1600" b="1" dirty="0"/>
              <a:t>direct, ready-to-use predictions</a:t>
            </a:r>
            <a:r>
              <a:rPr lang="en-GB" sz="1600" dirty="0"/>
              <a:t> without post-processing.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Simplifies training and improves </a:t>
            </a:r>
            <a:r>
              <a:rPr lang="en-GB" sz="1600" b="1" dirty="0"/>
              <a:t>reproducibility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Provides a principled, elegant alternative to multi-stage pipelines.</a:t>
            </a:r>
          </a:p>
        </p:txBody>
      </p:sp>
    </p:spTree>
    <p:extLst>
      <p:ext uri="{BB962C8B-B14F-4D97-AF65-F5344CB8AC3E}">
        <p14:creationId xmlns:p14="http://schemas.microsoft.com/office/powerpoint/2010/main" val="13306454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2D0CBC-FC56-9A0C-AF42-DB52D09F1D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GB" b="1" dirty="0"/>
              <a:t>Strengths &amp; Advantages of DETR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1F0CE69-CA93-F3F8-7786-95A9229432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4351338"/>
          </a:xfrm>
        </p:spPr>
        <p:txBody>
          <a:bodyPr>
            <a:noAutofit/>
          </a:bodyPr>
          <a:lstStyle/>
          <a:p>
            <a:r>
              <a:rPr lang="en-GB" sz="1600" b="1" dirty="0"/>
              <a:t>1. Simplicity &amp; End-to-End Design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Eliminates anchor boxes, region proposals, and NMS.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Single network predicts final objects directly.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Easier to train, maintain, and reproduce results.</a:t>
            </a:r>
          </a:p>
          <a:p>
            <a:r>
              <a:rPr lang="en-GB" sz="1600" b="1" dirty="0"/>
              <a:t>2. Global Context Awareness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Transformer self-attention captures long-range relationships.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Can reason about object interactions and scene layout.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Improves detection in cluttered, complex, or overlapping scenarios.</a:t>
            </a:r>
          </a:p>
          <a:p>
            <a:r>
              <a:rPr lang="en-GB" sz="1600" b="1" dirty="0"/>
              <a:t>3. Clean &amp; Unified Training Objective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Single loss combines classification, bounding box regression, and </a:t>
            </a:r>
            <a:r>
              <a:rPr lang="en-GB" sz="1600" dirty="0" err="1"/>
              <a:t>GIoU</a:t>
            </a:r>
            <a:r>
              <a:rPr lang="en-GB" sz="16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Fully differentiable and principled.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Simplifies training compared to multi-stage detectors.</a:t>
            </a:r>
          </a:p>
          <a:p>
            <a:r>
              <a:rPr lang="en-GB" sz="1600" b="1" dirty="0"/>
              <a:t>4. No Heuristic Dependencies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dirty="0"/>
              <a:t>No need for </a:t>
            </a:r>
            <a:r>
              <a:rPr lang="en-GB" sz="1600" dirty="0" err="1"/>
              <a:t>IoU</a:t>
            </a:r>
            <a:r>
              <a:rPr lang="en-GB" sz="1600" dirty="0"/>
              <a:t> thresholds, anchor tuning, or post-processing.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sz="1600" b="1" dirty="0"/>
              <a:t>Advantage:</a:t>
            </a:r>
            <a:r>
              <a:rPr lang="en-GB" sz="1600" dirty="0"/>
              <a:t> Reduces hyperparameter tuning and design complexity.</a:t>
            </a:r>
          </a:p>
          <a:p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25996189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2594E6-1236-DC34-61E6-2CC7BE2AE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93A9B-6ED2-9206-8569-CDE79BFCE7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28675"/>
          </a:xfrm>
        </p:spPr>
        <p:txBody>
          <a:bodyPr/>
          <a:lstStyle/>
          <a:p>
            <a:r>
              <a:rPr lang="en-GB" b="1" dirty="0"/>
              <a:t>Strengths &amp; Advantages of DETR(2) 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BEB97E-E680-28E7-460A-3D810796F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925"/>
            <a:ext cx="10515600" cy="5060950"/>
          </a:xfrm>
        </p:spPr>
        <p:txBody>
          <a:bodyPr>
            <a:noAutofit/>
          </a:bodyPr>
          <a:lstStyle/>
          <a:p>
            <a:r>
              <a:rPr lang="en-GB" sz="1600" b="1" dirty="0"/>
              <a:t>Limitations of DETR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Slow Convergence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Requires longer training (e.g., 500 epochs on COCO) compared to Faster R-CNN.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Small Object Detection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Struggles with very small objects due to fixed patch-level attention.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Computational Cost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Transformer modules are memory-intensive, especially for high-resolution images.</a:t>
            </a:r>
          </a:p>
          <a:p>
            <a:r>
              <a:rPr lang="en-GB" sz="1600" b="1" dirty="0"/>
              <a:t>Improvements by Later Models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Deformable DETR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Reduces computation and speeds up training.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Improves small object detection.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Conditional / DAB DETR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Introduces dynamic queries for better localization.</a:t>
            </a:r>
          </a:p>
          <a:p>
            <a:pPr>
              <a:buFont typeface="+mj-lt"/>
              <a:buAutoNum type="arabicPeriod"/>
            </a:pPr>
            <a:r>
              <a:rPr lang="en-GB" sz="1600" b="1" dirty="0"/>
              <a:t>DN-DETR &amp; DINO</a:t>
            </a:r>
            <a:endParaRPr lang="en-GB" sz="1600" dirty="0"/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Enhances training stability and accuracy.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GB" sz="1600" dirty="0"/>
              <a:t>Incorporates denoising and query-based improvements.</a:t>
            </a:r>
          </a:p>
        </p:txBody>
      </p:sp>
    </p:spTree>
    <p:extLst>
      <p:ext uri="{BB962C8B-B14F-4D97-AF65-F5344CB8AC3E}">
        <p14:creationId xmlns:p14="http://schemas.microsoft.com/office/powerpoint/2010/main" val="8980110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D2B999-9F8C-8CF8-3BE8-CF09704389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Results &amp; Performance Highlights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0C0A0B-1DA9-758A-D3BE-A0A41E316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1600" b="1" dirty="0"/>
              <a:t>Key Quantitative Results (on COCO </a:t>
            </a:r>
            <a:r>
              <a:rPr lang="en-GB" sz="1600" b="1" dirty="0" err="1"/>
              <a:t>val</a:t>
            </a:r>
            <a:r>
              <a:rPr lang="en-GB" sz="1600" b="1" dirty="0"/>
              <a:t> set, with ResNet‑50 backbone)</a:t>
            </a:r>
          </a:p>
          <a:p>
            <a:endParaRPr lang="en-GB" b="1" dirty="0"/>
          </a:p>
          <a:p>
            <a:endParaRPr lang="en-GB" b="1" dirty="0"/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8D19DF4A-6906-C19B-9032-5F6C023F053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8818127"/>
              </p:ext>
            </p:extLst>
          </p:nvPr>
        </p:nvGraphicFramePr>
        <p:xfrm>
          <a:off x="838197" y="2261760"/>
          <a:ext cx="10515603" cy="5432835"/>
        </p:xfrm>
        <a:graphic>
          <a:graphicData uri="http://schemas.openxmlformats.org/drawingml/2006/table">
            <a:tbl>
              <a:tblPr/>
              <a:tblGrid>
                <a:gridCol w="1502229">
                  <a:extLst>
                    <a:ext uri="{9D8B030D-6E8A-4147-A177-3AD203B41FA5}">
                      <a16:colId xmlns:a16="http://schemas.microsoft.com/office/drawing/2014/main" val="33499556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501578575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34833948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1368587594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329775219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159039726"/>
                    </a:ext>
                  </a:extLst>
                </a:gridCol>
                <a:gridCol w="1502229">
                  <a:extLst>
                    <a:ext uri="{9D8B030D-6E8A-4147-A177-3AD203B41FA5}">
                      <a16:colId xmlns:a16="http://schemas.microsoft.com/office/drawing/2014/main" val="4250132601"/>
                    </a:ext>
                  </a:extLst>
                </a:gridCol>
              </a:tblGrid>
              <a:tr h="1082403">
                <a:tc>
                  <a:txBody>
                    <a:bodyPr/>
                    <a:lstStyle/>
                    <a:p>
                      <a:r>
                        <a:rPr lang="en-GB" sz="1700"/>
                        <a:t>Model Variant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AP (mAP @ IoU 0.50–0.95)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AP₅₀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dirty="0"/>
                        <a:t>AP₇₅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AP_S (small)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AP_M (medium)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AP_L (large)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42868271"/>
                  </a:ext>
                </a:extLst>
              </a:tr>
              <a:tr h="838830">
                <a:tc>
                  <a:txBody>
                    <a:bodyPr/>
                    <a:lstStyle/>
                    <a:p>
                      <a:r>
                        <a:rPr lang="en-GB" sz="1700" b="1"/>
                        <a:t>DETR (ResNet‑50)</a:t>
                      </a:r>
                      <a:endParaRPr lang="en-GB" sz="1700"/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b="1"/>
                        <a:t>42.0</a:t>
                      </a:r>
                      <a:r>
                        <a:rPr lang="en-GB" sz="1700"/>
                        <a:t>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62.4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44.2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20.5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45.8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b="1"/>
                        <a:t>61.1</a:t>
                      </a:r>
                      <a:r>
                        <a:rPr lang="en-GB" sz="1700"/>
                        <a:t>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4287839"/>
                  </a:ext>
                </a:extLst>
              </a:tr>
              <a:tr h="1582041">
                <a:tc>
                  <a:txBody>
                    <a:bodyPr/>
                    <a:lstStyle/>
                    <a:p>
                      <a:r>
                        <a:rPr lang="en-GB" sz="1700" b="1"/>
                        <a:t>DETR‑DC5 (ResNet‑50 + dilated C5)</a:t>
                      </a:r>
                      <a:endParaRPr lang="en-GB" sz="1700"/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43.3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63.1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45.9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22.5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47.3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61.1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9727871"/>
                  </a:ext>
                </a:extLst>
              </a:tr>
              <a:tr h="838830">
                <a:tc>
                  <a:txBody>
                    <a:bodyPr/>
                    <a:lstStyle/>
                    <a:p>
                      <a:r>
                        <a:rPr lang="en-GB" sz="1700" b="1"/>
                        <a:t>DETR (ResNet‑101)</a:t>
                      </a:r>
                      <a:endParaRPr lang="en-GB" sz="1700"/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43.5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63.8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46.4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21.9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48.0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61.8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4030769"/>
                  </a:ext>
                </a:extLst>
              </a:tr>
              <a:tr h="1090731">
                <a:tc>
                  <a:txBody>
                    <a:bodyPr/>
                    <a:lstStyle/>
                    <a:p>
                      <a:r>
                        <a:rPr lang="en-GB" sz="1700" b="1"/>
                        <a:t>DETR‑DC5 + ResNet‑101</a:t>
                      </a:r>
                      <a:endParaRPr lang="en-GB" sz="1700"/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b="1"/>
                        <a:t>44.9</a:t>
                      </a:r>
                      <a:r>
                        <a:rPr lang="en-GB" sz="1700"/>
                        <a:t> (best)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64.7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47.7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23.7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/>
                        <a:t>49.5 (</a:t>
                      </a:r>
                      <a:r>
                        <a:rPr lang="en-GB" sz="170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1700" b="1" dirty="0"/>
                        <a:t>62.3</a:t>
                      </a:r>
                      <a:r>
                        <a:rPr lang="en-GB" sz="1700" dirty="0"/>
                        <a:t> (</a:t>
                      </a:r>
                      <a:r>
                        <a:rPr lang="en-GB" sz="1700" dirty="0">
                          <a:hlinkClick r:id="rId2" tooltip="End-to-End Object Detection with Transformers"/>
                        </a:rPr>
                        <a:t>ECVA</a:t>
                      </a:r>
                      <a:r>
                        <a:rPr lang="en-GB" sz="1700" dirty="0"/>
                        <a:t>)</a:t>
                      </a:r>
                    </a:p>
                  </a:txBody>
                  <a:tcPr marT="41564" marB="4156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543858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6680552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09D5D-A01A-F858-8B19-CBD2D2E7A6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b="1" dirty="0"/>
              <a:t>Interpretation &amp; Key Takeaways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64093C-6ADB-8A3B-6745-7113B58FE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DETR demonstrates that a </a:t>
            </a:r>
            <a:r>
              <a:rPr lang="en-GB" b="1" dirty="0"/>
              <a:t>transformer‑based, end-to-end detection model</a:t>
            </a:r>
            <a:r>
              <a:rPr lang="en-GB" dirty="0"/>
              <a:t> can achieve </a:t>
            </a:r>
            <a:r>
              <a:rPr lang="en-GB" b="1" dirty="0"/>
              <a:t>competitive accuracy</a:t>
            </a:r>
            <a:r>
              <a:rPr lang="en-GB" dirty="0"/>
              <a:t> with much simpler design.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strength on large objects and overall high AP suggests </a:t>
            </a:r>
            <a:r>
              <a:rPr lang="en-GB" b="1" dirty="0"/>
              <a:t>global context reasoning works well</a:t>
            </a:r>
            <a:r>
              <a:rPr lang="en-GB" dirty="0"/>
              <a:t> when objects are reasonably large or well separated.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Lower performance on small objects—and the need for long training—are notable trade‑offs, showing room for improvement.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GB" dirty="0"/>
              <a:t>The comparable inference speed and moderate parameter count indicate that DETR is not just a theoretical novelty: it’s practically usable, especially when simplicity and end-to-end design matter.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4346955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F4E595-7F06-1655-63EF-4145730436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98F093-4CEC-1229-A876-9C09A20E6C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/>
              <a:t>Thank you</a:t>
            </a:r>
          </a:p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0102889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2182</Words>
  <Application>Microsoft Macintosh PowerPoint</Application>
  <PresentationFormat>Widescreen</PresentationFormat>
  <Paragraphs>174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Aptos</vt:lpstr>
      <vt:lpstr>Aptos Display</vt:lpstr>
      <vt:lpstr>Arial</vt:lpstr>
      <vt:lpstr>Office Theme</vt:lpstr>
      <vt:lpstr>Review DETR: End-to-End Object Detection with Transformers</vt:lpstr>
      <vt:lpstr>Introduction &amp; Motivation</vt:lpstr>
      <vt:lpstr>Intro (2)</vt:lpstr>
      <vt:lpstr>Main Contri.</vt:lpstr>
      <vt:lpstr>Main Contri. (2)</vt:lpstr>
      <vt:lpstr>Detr Archi Overview</vt:lpstr>
      <vt:lpstr>Detr Archi Overview(2)</vt:lpstr>
      <vt:lpstr>Key Innovations and Advantages</vt:lpstr>
      <vt:lpstr>Key Innovations and Advantages(2)</vt:lpstr>
      <vt:lpstr>Training Objective &amp; Loss Function</vt:lpstr>
      <vt:lpstr>Training Objective &amp; Loss Function(2)</vt:lpstr>
      <vt:lpstr>Strengths &amp; Advantages of DETR </vt:lpstr>
      <vt:lpstr>Strengths &amp; Advantages of DETR(2) </vt:lpstr>
      <vt:lpstr>Results &amp; Performance Highlights</vt:lpstr>
      <vt:lpstr>Interpretation &amp; Key Takeaways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Harish Prabhu</dc:creator>
  <cp:lastModifiedBy>Harish Prabhu</cp:lastModifiedBy>
  <cp:revision>27</cp:revision>
  <dcterms:created xsi:type="dcterms:W3CDTF">2025-12-02T23:36:32Z</dcterms:created>
  <dcterms:modified xsi:type="dcterms:W3CDTF">2025-12-03T00:23:36Z</dcterms:modified>
</cp:coreProperties>
</file>